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A5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B2A5B"/>
                </a:solidFill>
                <a:latin typeface="Arial"/>
              </a:rPr>
              <a:t>Five-class (chance = 0.20)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B3F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D59-4BD8-A3DA-CEEB78917BD7}"/>
              </c:ext>
            </c:extLst>
          </c:dPt>
          <c:dPt>
            <c:idx val="1"/>
            <c:invertIfNegative val="0"/>
            <c:bubble3D val="0"/>
            <c:spPr>
              <a:solidFill>
                <a:srgbClr val="1F6F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59-4BD8-A3DA-CEEB78917BD7}"/>
              </c:ext>
            </c:extLst>
          </c:dPt>
          <c:dPt>
            <c:idx val="2"/>
            <c:invertIfNegative val="0"/>
            <c:bubble3D val="0"/>
            <c:spPr>
              <a:solidFill>
                <a:srgbClr val="138A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59-4BD8-A3DA-CEEB78917BD7}"/>
              </c:ext>
            </c:extLst>
          </c:dPt>
          <c:dPt>
            <c:idx val="3"/>
            <c:invertIfNegative val="0"/>
            <c:bubble3D val="0"/>
            <c:spPr>
              <a:solidFill>
                <a:srgbClr val="E871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D59-4BD8-A3DA-CEEB78917BD7}"/>
              </c:ext>
            </c:extLst>
          </c:dPt>
          <c:dPt>
            <c:idx val="4"/>
            <c:invertIfNegative val="0"/>
            <c:bubble3D val="0"/>
            <c:spPr>
              <a:solidFill>
                <a:srgbClr val="D23B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D59-4BD8-A3DA-CEEB78917BD7}"/>
              </c:ext>
            </c:extLst>
          </c:dPt>
          <c:dPt>
            <c:idx val="5"/>
            <c:invertIfNegative val="0"/>
            <c:bubble3D val="0"/>
            <c:spPr>
              <a:solidFill>
                <a:srgbClr val="B58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D59-4BD8-A3DA-CEEB78917BD7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SVM</c:v>
                </c:pt>
                <c:pt idx="1">
                  <c:v>KNN</c:v>
                </c:pt>
                <c:pt idx="2">
                  <c:v>RF</c:v>
                </c:pt>
                <c:pt idx="3">
                  <c:v>HKNNRF</c:v>
                </c:pt>
                <c:pt idx="4">
                  <c:v>MLP</c:v>
                </c:pt>
                <c:pt idx="5">
                  <c:v>CNN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0.13</c:v>
                </c:pt>
                <c:pt idx="1">
                  <c:v>0.21</c:v>
                </c:pt>
                <c:pt idx="2">
                  <c:v>0.20200000000000001</c:v>
                </c:pt>
                <c:pt idx="3">
                  <c:v>0.16400000000000001</c:v>
                </c:pt>
                <c:pt idx="4">
                  <c:v>0.186</c:v>
                </c:pt>
                <c:pt idx="5">
                  <c:v>0.182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D59-4BD8-A3DA-CEEB78917B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3EAF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A5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A5B"/>
                </a:solidFill>
                <a:latin typeface="Arial"/>
              </a:rPr>
              <a:t>Binary, 10 pairs (chance = 0.50)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6B3F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1BC-4AF2-A99E-FE953B7D9562}"/>
              </c:ext>
            </c:extLst>
          </c:dPt>
          <c:dPt>
            <c:idx val="1"/>
            <c:invertIfNegative val="0"/>
            <c:bubble3D val="0"/>
            <c:spPr>
              <a:solidFill>
                <a:srgbClr val="1F6FE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BC-4AF2-A99E-FE953B7D9562}"/>
              </c:ext>
            </c:extLst>
          </c:dPt>
          <c:dPt>
            <c:idx val="2"/>
            <c:invertIfNegative val="0"/>
            <c:bubble3D val="0"/>
            <c:spPr>
              <a:solidFill>
                <a:srgbClr val="138A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BC-4AF2-A99E-FE953B7D9562}"/>
              </c:ext>
            </c:extLst>
          </c:dPt>
          <c:dPt>
            <c:idx val="3"/>
            <c:invertIfNegative val="0"/>
            <c:bubble3D val="0"/>
            <c:spPr>
              <a:solidFill>
                <a:srgbClr val="E8710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BC-4AF2-A99E-FE953B7D9562}"/>
              </c:ext>
            </c:extLst>
          </c:dPt>
          <c:dPt>
            <c:idx val="4"/>
            <c:invertIfNegative val="0"/>
            <c:bubble3D val="0"/>
            <c:spPr>
              <a:solidFill>
                <a:srgbClr val="D23B4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1BC-4AF2-A99E-FE953B7D9562}"/>
              </c:ext>
            </c:extLst>
          </c:dPt>
          <c:dPt>
            <c:idx val="5"/>
            <c:invertIfNegative val="0"/>
            <c:bubble3D val="0"/>
            <c:spPr>
              <a:solidFill>
                <a:srgbClr val="B58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1BC-4AF2-A99E-FE953B7D9562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SVM</c:v>
                </c:pt>
                <c:pt idx="1">
                  <c:v>KNN</c:v>
                </c:pt>
                <c:pt idx="2">
                  <c:v>RF</c:v>
                </c:pt>
                <c:pt idx="3">
                  <c:v>HKNNRF</c:v>
                </c:pt>
                <c:pt idx="4">
                  <c:v>MLP</c:v>
                </c:pt>
                <c:pt idx="5">
                  <c:v>CNN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0.498</c:v>
                </c:pt>
                <c:pt idx="1">
                  <c:v>0.50549999999999995</c:v>
                </c:pt>
                <c:pt idx="2">
                  <c:v>0.50549999999999995</c:v>
                </c:pt>
                <c:pt idx="3">
                  <c:v>0.51449999999999996</c:v>
                </c:pt>
                <c:pt idx="4">
                  <c:v>0.51249999999999996</c:v>
                </c:pt>
                <c:pt idx="5">
                  <c:v>0.50700000000000001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1BC-4AF2-A99E-FE953B7D95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AF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A5B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B2A5B"/>
                </a:solidFill>
                <a:latin typeface="Arial"/>
              </a:rPr>
              <a:t>Five-class accuracy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</c:v>
                </c:pt>
              </c:strCache>
            </c:strRef>
          </c:tx>
          <c:spPr>
            <a:solidFill>
              <a:srgbClr val="8B95A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KNN</c:v>
                </c:pt>
                <c:pt idx="2">
                  <c:v>RF</c:v>
                </c:pt>
                <c:pt idx="3">
                  <c:v>HKNNRF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0.18</c:v>
                </c:pt>
                <c:pt idx="1">
                  <c:v>0.192</c:v>
                </c:pt>
                <c:pt idx="2">
                  <c:v>0.21</c:v>
                </c:pt>
                <c:pt idx="3">
                  <c:v>0.29599999999999999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A0-4841-BD75-F8741B60FB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F6FE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KNN</c:v>
                </c:pt>
                <c:pt idx="2">
                  <c:v>RF</c:v>
                </c:pt>
                <c:pt idx="3">
                  <c:v>HKNNRF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0.13</c:v>
                </c:pt>
                <c:pt idx="1">
                  <c:v>0.21</c:v>
                </c:pt>
                <c:pt idx="2">
                  <c:v>0.20200000000000001</c:v>
                </c:pt>
                <c:pt idx="3">
                  <c:v>0.16400000000000001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FA0-4841-BD75-F8741B60FB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"/>
          <c:min val="0"/>
        </c:scaling>
        <c:delete val="0"/>
        <c:axPos val="l"/>
        <c:majorGridlines>
          <c:spPr>
            <a:ln w="6350" cap="flat">
              <a:solidFill>
                <a:srgbClr val="E3EAF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B4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B2A5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0B2A5B"/>
                </a:solidFill>
                <a:latin typeface="Arial"/>
              </a:rPr>
              <a:t>Binary AES vs 3DES accuracy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Paper</c:v>
                </c:pt>
              </c:strCache>
            </c:strRef>
          </c:tx>
          <c:spPr>
            <a:solidFill>
              <a:srgbClr val="8B95AD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KNN</c:v>
                </c:pt>
                <c:pt idx="2">
                  <c:v>RF</c:v>
                </c:pt>
                <c:pt idx="3">
                  <c:v>HKNNRF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0.56499999999999995</c:v>
                </c:pt>
                <c:pt idx="1">
                  <c:v>0.56999999999999995</c:v>
                </c:pt>
                <c:pt idx="2">
                  <c:v>0.59499999999999997</c:v>
                </c:pt>
                <c:pt idx="3">
                  <c:v>0.69499999999999995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F2-4EC5-BDDC-46EFF7E25DA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Ours</c:v>
                </c:pt>
              </c:strCache>
            </c:strRef>
          </c:tx>
          <c:spPr>
            <a:solidFill>
              <a:srgbClr val="1F6FE0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B2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KNN</c:v>
                </c:pt>
                <c:pt idx="2">
                  <c:v>RF</c:v>
                </c:pt>
                <c:pt idx="3">
                  <c:v>HKNNRF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0.47</c:v>
                </c:pt>
                <c:pt idx="1">
                  <c:v>0.48499999999999999</c:v>
                </c:pt>
                <c:pt idx="2">
                  <c:v>0.48499999999999999</c:v>
                </c:pt>
                <c:pt idx="3">
                  <c:v>0.5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F2-4EC5-BDDC-46EFF7E25D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3EAF6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2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B4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536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6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7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0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74920" y="0"/>
            <a:ext cx="4069080" cy="5143500"/>
          </a:xfrm>
          <a:prstGeom prst="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65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MAHARAJA SURAJMAL INSTITUTE OF TECHNOLOGY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0350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Information Technology  ·  New Delhi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MINOR PROJECT  ·  FINAL PRESENTATION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50876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42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2860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Cipher Identification using Machine Learning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926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· 3DES · Blowfish · CAST · RC2, recognised from ten NIST statistical features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E4EDFB"/>
          </a:solidFill>
          <a:ln w="12700">
            <a:solidFill>
              <a:srgbClr val="E4EDFB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" y="3735324"/>
            <a:ext cx="210312" cy="210312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721608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51560" y="3520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Sanyam Kumar (02996303123)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Aayush Ahuja (35496303123)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 Ramrakhiani (35296303123)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5204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Bharti Sharma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349240" y="1691640"/>
            <a:ext cx="3520440" cy="2163128"/>
          </a:xfrm>
          <a:prstGeom prst="roundRect">
            <a:avLst>
              <a:gd name="adj" fmla="val 2536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431536" y="17510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522976" y="17510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614416" y="17510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806440" y="1728216"/>
            <a:ext cx="1478585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5852160" y="1728216"/>
            <a:ext cx="1408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20" name="Image 2" descr="C:\Users\HARSH\AppData\Local\Temp\claude\c--Users-HARSH-Desktop-SEM--WORKS-SEM-7-All-Work-Minor-Project-Project\50c01da4-15b4-46c6-90a3-605a71a1a498\scratchpad\ppt\img2\home_h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7528" y="1874520"/>
            <a:ext cx="3483864" cy="19619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349240" y="42519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application: Streamlit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path from the base paper to a working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1517904" cy="3200400"/>
          </a:xfrm>
          <a:prstGeom prst="roundRect">
            <a:avLst>
              <a:gd name="adj" fmla="val 5422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86968" y="1463040"/>
            <a:ext cx="658368" cy="658368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727" y="1640799"/>
            <a:ext cx="302849" cy="30284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96112" y="224028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96112" y="22402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RO1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Existing Research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566928" y="315468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cipher-identification literature and the base paper: Yuan et al. (2022), hybrid KNN + Random Forest.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066544" y="1325880"/>
            <a:ext cx="1517904" cy="3200400"/>
          </a:xfrm>
          <a:prstGeom prst="roundRect">
            <a:avLst>
              <a:gd name="adj" fmla="val 5422"/>
            </a:avLst>
          </a:prstGeom>
          <a:solidFill>
            <a:srgbClr val="E8F6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96312" y="1463040"/>
            <a:ext cx="658368" cy="658368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4071" y="1640799"/>
            <a:ext cx="302849" cy="302849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2505456" y="224028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505456" y="22402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RO2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2157984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Approach &amp; Gap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2176272" y="315468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NIST p-values as features; note the paper evaluates only four classical models and no neural baseline.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675888" y="1325880"/>
            <a:ext cx="1517904" cy="3200400"/>
          </a:xfrm>
          <a:prstGeom prst="roundRect">
            <a:avLst>
              <a:gd name="adj" fmla="val 5422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105656" y="1463040"/>
            <a:ext cx="658368" cy="658368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3415" y="1640799"/>
            <a:ext cx="302849" cy="302849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114800" y="224028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4114800" y="22402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RO3</a:t>
            </a:r>
            <a:endParaRPr lang="en-US" sz="900" dirty="0"/>
          </a:p>
        </p:txBody>
      </p:sp>
      <p:sp>
        <p:nvSpPr>
          <p:cNvPr id="25" name="Text 20"/>
          <p:cNvSpPr txBox="1"/>
          <p:nvPr/>
        </p:nvSpPr>
        <p:spPr>
          <a:xfrm>
            <a:off x="3767328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Reproduce the Benchmark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3785616" y="315468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SVM, KNN, RF and HKNNRF and evaluate them on the 55 datasets.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285232" y="1325880"/>
            <a:ext cx="1517904" cy="3200400"/>
          </a:xfrm>
          <a:prstGeom prst="roundRect">
            <a:avLst>
              <a:gd name="adj" fmla="val 5422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5715000" y="1463040"/>
            <a:ext cx="658368" cy="658368"/>
          </a:xfrm>
          <a:prstGeom prst="ellipse">
            <a:avLst/>
          </a:prstGeom>
          <a:solidFill>
            <a:srgbClr val="6B3FC4"/>
          </a:solidFill>
          <a:ln w="12700">
            <a:solidFill>
              <a:srgbClr val="6B3FC4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2759" y="1640799"/>
            <a:ext cx="302849" cy="302849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724144" y="224028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6B3FC4"/>
          </a:solidFill>
          <a:ln w="12700">
            <a:solidFill>
              <a:srgbClr val="6B3FC4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5724144" y="22402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RO4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5376672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with Neural Nets</a:t>
            </a:r>
            <a:endParaRPr lang="en-US" sz="1200" dirty="0"/>
          </a:p>
        </p:txBody>
      </p:sp>
      <p:sp>
        <p:nvSpPr>
          <p:cNvPr id="33" name="Text 27"/>
          <p:cNvSpPr txBox="1"/>
          <p:nvPr/>
        </p:nvSpPr>
        <p:spPr>
          <a:xfrm>
            <a:off x="5394960" y="315468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MLP and a 1-D CNN and test them under the identical split and metrics.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894576" y="1325880"/>
            <a:ext cx="1517904" cy="3200400"/>
          </a:xfrm>
          <a:prstGeom prst="roundRect">
            <a:avLst>
              <a:gd name="adj" fmla="val 5422"/>
            </a:avLst>
          </a:prstGeom>
          <a:solidFill>
            <a:srgbClr val="E6F6F7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7324344" y="1463040"/>
            <a:ext cx="658368" cy="658368"/>
          </a:xfrm>
          <a:prstGeom prst="ellipse">
            <a:avLst/>
          </a:prstGeom>
          <a:solidFill>
            <a:srgbClr val="0F8C96"/>
          </a:solidFill>
          <a:ln w="12700">
            <a:solidFill>
              <a:srgbClr val="0F8C96"/>
            </a:solidFill>
            <a:prstDash val="solid"/>
          </a:ln>
        </p:spPr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02103" y="1640799"/>
            <a:ext cx="302849" cy="302849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7333488" y="2240280"/>
            <a:ext cx="640080" cy="219456"/>
          </a:xfrm>
          <a:prstGeom prst="roundRect">
            <a:avLst>
              <a:gd name="adj" fmla="val 50000"/>
            </a:avLst>
          </a:prstGeom>
          <a:solidFill>
            <a:srgbClr val="0F8C96"/>
          </a:solidFill>
          <a:ln w="12700">
            <a:solidFill>
              <a:srgbClr val="0F8C96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7333488" y="2240280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RO5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6986016" y="2560320"/>
            <a:ext cx="13350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End to End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7004304" y="3154680"/>
            <a:ext cx="12984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330 experiments and ship an interactive app to explore, run and compare them.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CIPHERTEXT HAS NO LABEL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anyone can analyse an encryption, they must know which algorithm produced it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246120"/>
          </a:xfrm>
          <a:prstGeom prst="roundRect">
            <a:avLst>
              <a:gd name="adj" fmla="val 2535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 SAMPLE</a:t>
            </a:r>
            <a:endParaRPr lang="en-US" sz="8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45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A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9f 3a c1 7e 04 b8 5d 22 e6 91 0c 47 ad 68 fb 13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5e c9 70 2b 8a d4 16 f0 39 bc 62 07 e5 9d 4a 81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A8A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c3 1f 76 a8 0e 5b d2 94 3d e7 28 b1 6c f5 0a 4e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46888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E87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640080" y="34290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6B3FC4"/>
          </a:solidFill>
          <a:ln w="12700">
            <a:solidFill>
              <a:srgbClr val="6B3FC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429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828800" y="34290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828800" y="3429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17520" y="342900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34290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Blowfish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7947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794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0" y="3794760"/>
            <a:ext cx="1051560" cy="274320"/>
          </a:xfrm>
          <a:prstGeom prst="roundRect">
            <a:avLst>
              <a:gd name="adj" fmla="val 50000"/>
            </a:avLst>
          </a:prstGeom>
          <a:solidFill>
            <a:srgbClr val="D23B4E"/>
          </a:solidFill>
          <a:ln w="12700">
            <a:solidFill>
              <a:srgbClr val="D23B4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828800" y="379476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RC2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five block ciphers made this?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502920" cy="502920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0668" y="1461668"/>
            <a:ext cx="231343" cy="231343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440680" y="128016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ciphers look random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40680" y="157276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output is designed to be indistinguishable from noise, so the label is hidden by design.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754880" y="2423160"/>
            <a:ext cx="502920" cy="50292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668" y="2558948"/>
            <a:ext cx="231343" cy="231343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544068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Randomness has texture</a:t>
            </a:r>
            <a:endParaRPr lang="en-US" sz="1300" dirty="0"/>
          </a:p>
        </p:txBody>
      </p:sp>
      <p:sp>
        <p:nvSpPr>
          <p:cNvPr id="28" name="Text 24"/>
          <p:cNvSpPr txBox="1"/>
          <p:nvPr/>
        </p:nvSpPr>
        <p:spPr>
          <a:xfrm>
            <a:off x="5440680" y="267004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randomness tests can still differ slightly from one algorithm to another.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754880" y="3520440"/>
            <a:ext cx="502920" cy="50292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0668" y="3656228"/>
            <a:ext cx="231343" cy="231343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440680" y="3474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idea</a:t>
            </a:r>
            <a:endParaRPr lang="en-US" sz="1300" dirty="0"/>
          </a:p>
        </p:txBody>
      </p:sp>
      <p:sp>
        <p:nvSpPr>
          <p:cNvPr id="32" name="Text 27"/>
          <p:cNvSpPr txBox="1"/>
          <p:nvPr/>
        </p:nvSpPr>
        <p:spPr>
          <a:xfrm>
            <a:off x="5440680" y="3767328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ten NIST tests per ciphertext and let a classifier learn the differences.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DATASET: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NIST FEATURE FILES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 samples reduced to ten randomness p-values each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840480" cy="3246120"/>
          </a:xfrm>
          <a:prstGeom prst="roundRect">
            <a:avLst>
              <a:gd name="adj" fmla="val 2535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8988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SPECIFICATIONS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190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171907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CSVs (5 five-class + 50 binary)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084832"/>
            <a:ext cx="3474720" cy="0"/>
          </a:xfrm>
          <a:prstGeom prst="line">
            <a:avLst/>
          </a:prstGeom>
          <a:noFill/>
          <a:ln w="6350">
            <a:solidFill>
              <a:srgbClr val="D5E1F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212140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12140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AES, 3DES, Blowfish, CAST, RC2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2487168"/>
            <a:ext cx="3474720" cy="0"/>
          </a:xfrm>
          <a:prstGeom prst="line">
            <a:avLst/>
          </a:prstGeom>
          <a:noFill/>
          <a:ln w="6350">
            <a:solidFill>
              <a:srgbClr val="D5E1F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52374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874520" y="2523744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NIST test p-values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889504"/>
            <a:ext cx="3474720" cy="0"/>
          </a:xfrm>
          <a:prstGeom prst="line">
            <a:avLst/>
          </a:prstGeom>
          <a:noFill/>
          <a:ln w="6350">
            <a:solidFill>
              <a:srgbClr val="D5E1F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29260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 sizes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2926080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1KB, 8KB, 64KB, 256KB, 512KB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3291840"/>
            <a:ext cx="3474720" cy="0"/>
          </a:xfrm>
          <a:prstGeom prst="line">
            <a:avLst/>
          </a:prstGeom>
          <a:noFill/>
          <a:ln w="6350">
            <a:solidFill>
              <a:srgbClr val="D5E1F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32841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Five-class split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1874520" y="3328416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 train / 100 test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694176"/>
            <a:ext cx="3474720" cy="0"/>
          </a:xfrm>
          <a:prstGeom prst="line">
            <a:avLst/>
          </a:prstGeom>
          <a:noFill/>
          <a:ln w="6350">
            <a:solidFill>
              <a:srgbClr val="D5E1F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373075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split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1874520" y="3730752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 train / 40 test (per pair)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4096512"/>
            <a:ext cx="3474720" cy="0"/>
          </a:xfrm>
          <a:prstGeom prst="line">
            <a:avLst/>
          </a:prstGeom>
          <a:noFill/>
          <a:ln w="6350">
            <a:solidFill>
              <a:srgbClr val="D5E1F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1330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Split method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874520" y="4133088"/>
            <a:ext cx="2331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80/20, fixed seed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26280" y="1280160"/>
            <a:ext cx="2011680" cy="1554480"/>
          </a:xfrm>
          <a:prstGeom prst="roundRect">
            <a:avLst>
              <a:gd name="adj" fmla="val 5294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1417320"/>
            <a:ext cx="365760" cy="365760"/>
          </a:xfrm>
          <a:prstGeom prst="ellipse">
            <a:avLst/>
          </a:prstGeom>
          <a:solidFill>
            <a:srgbClr val="6B3FC4"/>
          </a:solidFill>
          <a:ln w="12700">
            <a:solidFill>
              <a:srgbClr val="6B3FC4"/>
            </a:solidFill>
            <a:prstDash val="solid"/>
          </a:ln>
        </p:spPr>
      </p:sp>
      <p:pic>
        <p:nvPicPr>
          <p:cNvPr id="3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195" y="1516075"/>
            <a:ext cx="168250" cy="168250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466344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6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32" name="Text 29"/>
          <p:cNvSpPr txBox="1"/>
          <p:nvPr/>
        </p:nvSpPr>
        <p:spPr>
          <a:xfrm>
            <a:off x="4663440" y="2331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five-class files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663440" y="2560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ciphertext size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6629400" y="1280160"/>
            <a:ext cx="2011680" cy="1554480"/>
          </a:xfrm>
          <a:prstGeom prst="roundRect">
            <a:avLst>
              <a:gd name="adj" fmla="val 5294"/>
            </a:avLst>
          </a:prstGeom>
          <a:solidFill>
            <a:srgbClr val="E8F6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766560" y="1417320"/>
            <a:ext cx="365760" cy="36576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pic>
        <p:nvPicPr>
          <p:cNvPr id="3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5315" y="1516075"/>
            <a:ext cx="168250" cy="168250"/>
          </a:xfrm>
          <a:prstGeom prst="rect">
            <a:avLst/>
          </a:prstGeom>
        </p:spPr>
      </p:pic>
      <p:sp>
        <p:nvSpPr>
          <p:cNvPr id="37" name="Text 33"/>
          <p:cNvSpPr txBox="1"/>
          <p:nvPr/>
        </p:nvSpPr>
        <p:spPr>
          <a:xfrm>
            <a:off x="6766560" y="18288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3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3000" dirty="0"/>
          </a:p>
        </p:txBody>
      </p:sp>
      <p:sp>
        <p:nvSpPr>
          <p:cNvPr id="38" name="Text 34"/>
          <p:cNvSpPr txBox="1"/>
          <p:nvPr/>
        </p:nvSpPr>
        <p:spPr>
          <a:xfrm>
            <a:off x="6766560" y="23317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files</a:t>
            </a:r>
            <a:endParaRPr lang="en-US" sz="1100" dirty="0"/>
          </a:p>
        </p:txBody>
      </p:sp>
      <p:sp>
        <p:nvSpPr>
          <p:cNvPr id="39" name="Text 35"/>
          <p:cNvSpPr txBox="1"/>
          <p:nvPr/>
        </p:nvSpPr>
        <p:spPr>
          <a:xfrm>
            <a:off x="6766560" y="256032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cipher pairs × 5 sizes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4526280" y="2926080"/>
            <a:ext cx="2011680" cy="1554480"/>
          </a:xfrm>
          <a:prstGeom prst="roundRect">
            <a:avLst>
              <a:gd name="adj" fmla="val 5294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4663440" y="3063240"/>
            <a:ext cx="365760" cy="36576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4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195" y="3161995"/>
            <a:ext cx="168250" cy="168250"/>
          </a:xfrm>
          <a:prstGeom prst="rect">
            <a:avLst/>
          </a:prstGeom>
        </p:spPr>
      </p:pic>
      <p:sp>
        <p:nvSpPr>
          <p:cNvPr id="43" name="Text 38"/>
          <p:cNvSpPr txBox="1"/>
          <p:nvPr/>
        </p:nvSpPr>
        <p:spPr>
          <a:xfrm>
            <a:off x="466344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7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000" dirty="0"/>
          </a:p>
        </p:txBody>
      </p:sp>
      <p:sp>
        <p:nvSpPr>
          <p:cNvPr id="44" name="Text 39"/>
          <p:cNvSpPr txBox="1"/>
          <p:nvPr/>
        </p:nvSpPr>
        <p:spPr>
          <a:xfrm>
            <a:off x="4663440" y="3977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 per row</a:t>
            </a:r>
            <a:endParaRPr lang="en-US" sz="1100" dirty="0"/>
          </a:p>
        </p:txBody>
      </p:sp>
      <p:sp>
        <p:nvSpPr>
          <p:cNvPr id="45" name="Text 40"/>
          <p:cNvSpPr txBox="1"/>
          <p:nvPr/>
        </p:nvSpPr>
        <p:spPr>
          <a:xfrm>
            <a:off x="4663440" y="4206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NIST p-values, used as-is</a:t>
            </a:r>
            <a:endParaRPr lang="en-US" sz="950" dirty="0"/>
          </a:p>
        </p:txBody>
      </p:sp>
      <p:sp>
        <p:nvSpPr>
          <p:cNvPr id="46" name="Shape 41"/>
          <p:cNvSpPr/>
          <p:nvPr/>
        </p:nvSpPr>
        <p:spPr>
          <a:xfrm>
            <a:off x="6629400" y="2926080"/>
            <a:ext cx="2011680" cy="1554480"/>
          </a:xfrm>
          <a:prstGeom prst="roundRect">
            <a:avLst>
              <a:gd name="adj" fmla="val 5294"/>
            </a:avLst>
          </a:prstGeom>
          <a:solidFill>
            <a:srgbClr val="E6F6F7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47" name="Shape 42"/>
          <p:cNvSpPr/>
          <p:nvPr/>
        </p:nvSpPr>
        <p:spPr>
          <a:xfrm>
            <a:off x="6766560" y="3063240"/>
            <a:ext cx="365760" cy="365760"/>
          </a:xfrm>
          <a:prstGeom prst="ellipse">
            <a:avLst/>
          </a:prstGeom>
          <a:solidFill>
            <a:srgbClr val="0F8C96"/>
          </a:solidFill>
          <a:ln w="12700">
            <a:solidFill>
              <a:srgbClr val="0F8C96"/>
            </a:solidFill>
            <a:prstDash val="solid"/>
          </a:ln>
        </p:spPr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5315" y="3161995"/>
            <a:ext cx="168250" cy="168250"/>
          </a:xfrm>
          <a:prstGeom prst="rect">
            <a:avLst/>
          </a:prstGeom>
        </p:spPr>
      </p:pic>
      <p:sp>
        <p:nvSpPr>
          <p:cNvPr id="49" name="Text 43"/>
          <p:cNvSpPr txBox="1"/>
          <p:nvPr/>
        </p:nvSpPr>
        <p:spPr>
          <a:xfrm>
            <a:off x="6766560" y="3474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8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50" name="Text 44"/>
          <p:cNvSpPr txBox="1"/>
          <p:nvPr/>
        </p:nvSpPr>
        <p:spPr>
          <a:xfrm>
            <a:off x="6766560" y="39776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 sizes</a:t>
            </a:r>
            <a:endParaRPr lang="en-US" sz="1100" dirty="0"/>
          </a:p>
        </p:txBody>
      </p:sp>
      <p:sp>
        <p:nvSpPr>
          <p:cNvPr id="51" name="Text 45"/>
          <p:cNvSpPr txBox="1"/>
          <p:nvPr/>
        </p:nvSpPr>
        <p:spPr>
          <a:xfrm>
            <a:off x="6766560" y="420624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1KB up to 512KB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 MEASUREMENTS.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FINGERPRINT.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NIST randomness tests whose p-values form each feature vector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517904" cy="1463040"/>
          </a:xfrm>
          <a:prstGeom prst="roundRect">
            <a:avLst>
              <a:gd name="adj" fmla="val 5625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85216" y="1389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7190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Approximate Entropy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103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Regularity of overlapping bit patterns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585216" y="24688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aetPValue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066544" y="1280160"/>
            <a:ext cx="1517904" cy="1463040"/>
          </a:xfrm>
          <a:prstGeom prst="roundRect">
            <a:avLst>
              <a:gd name="adj" fmla="val 5625"/>
            </a:avLst>
          </a:prstGeom>
          <a:solidFill>
            <a:srgbClr val="E8F6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2194560" y="1389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194560" y="17190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Sums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2103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of the running sum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24688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38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custPValue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75888" y="1280160"/>
            <a:ext cx="1517904" cy="1463040"/>
          </a:xfrm>
          <a:prstGeom prst="roundRect">
            <a:avLst>
              <a:gd name="adj" fmla="val 5625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803904" y="1389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803904" y="17190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Discrete Fourier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3803904" y="2103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structure in the spectrum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3803904" y="24688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71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dtfPValue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285232" y="1280160"/>
            <a:ext cx="1517904" cy="1463040"/>
          </a:xfrm>
          <a:prstGeom prst="roundRect">
            <a:avLst>
              <a:gd name="adj" fmla="val 5625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413248" y="1389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413248" y="17190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Frequency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13248" y="2103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of ones inside blocks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24688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fwbtPValue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894576" y="1280160"/>
            <a:ext cx="1517904" cy="1463040"/>
          </a:xfrm>
          <a:prstGeom prst="roundRect">
            <a:avLst>
              <a:gd name="adj" fmla="val 5625"/>
            </a:avLst>
          </a:prstGeom>
          <a:solidFill>
            <a:srgbClr val="E6F6F7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7022592" y="1389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8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7022592" y="17190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Complexity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7022592" y="21031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Shift-register style structure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7022592" y="24688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8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lrobPValue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57200" y="2880360"/>
            <a:ext cx="1517904" cy="1463040"/>
          </a:xfrm>
          <a:prstGeom prst="roundRect">
            <a:avLst>
              <a:gd name="adj" fmla="val 5625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585216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585216" y="33192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Monobit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585216" y="3703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balance of ones and zeros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585216" y="4069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F6F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mtPValue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066544" y="2880360"/>
            <a:ext cx="1517904" cy="1463040"/>
          </a:xfrm>
          <a:prstGeom prst="roundRect">
            <a:avLst>
              <a:gd name="adj" fmla="val 5625"/>
            </a:avLst>
          </a:prstGeom>
          <a:solidFill>
            <a:srgbClr val="E8F6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2194560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2194560" y="33192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Excursions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2194560" y="3703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visits to fixed states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2194560" y="4069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38A4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retPValue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3675888" y="2880360"/>
            <a:ext cx="1517904" cy="1463040"/>
          </a:xfrm>
          <a:prstGeom prst="roundRect">
            <a:avLst>
              <a:gd name="adj" fmla="val 5625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3803904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7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3803904" y="33192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Excursions Variant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3803904" y="3703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visits across many states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3803904" y="4069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710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revtPValue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285232" y="2880360"/>
            <a:ext cx="1517904" cy="1463040"/>
          </a:xfrm>
          <a:prstGeom prst="roundRect">
            <a:avLst>
              <a:gd name="adj" fmla="val 5625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47" name="Text 45"/>
          <p:cNvSpPr txBox="1"/>
          <p:nvPr/>
        </p:nvSpPr>
        <p:spPr>
          <a:xfrm>
            <a:off x="5413248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5413248" y="33192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1150" dirty="0"/>
          </a:p>
        </p:txBody>
      </p:sp>
      <p:sp>
        <p:nvSpPr>
          <p:cNvPr id="49" name="Text 47"/>
          <p:cNvSpPr txBox="1"/>
          <p:nvPr/>
        </p:nvSpPr>
        <p:spPr>
          <a:xfrm>
            <a:off x="5413248" y="3703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uninterrupted bit runs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5413248" y="4069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3F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runsPValue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6894576" y="2880360"/>
            <a:ext cx="1517904" cy="1463040"/>
          </a:xfrm>
          <a:prstGeom prst="roundRect">
            <a:avLst>
              <a:gd name="adj" fmla="val 5625"/>
            </a:avLst>
          </a:prstGeom>
          <a:solidFill>
            <a:srgbClr val="E6F6F7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52" name="Text 50"/>
          <p:cNvSpPr txBox="1"/>
          <p:nvPr/>
        </p:nvSpPr>
        <p:spPr>
          <a:xfrm>
            <a:off x="7022592" y="29900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8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7022592" y="3319272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Serial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7022592" y="3703320"/>
            <a:ext cx="1261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m-bit patterns</a:t>
            </a:r>
            <a:endParaRPr lang="en-US" sz="950" dirty="0"/>
          </a:p>
        </p:txBody>
      </p:sp>
      <p:sp>
        <p:nvSpPr>
          <p:cNvPr id="55" name="Text 53"/>
          <p:cNvSpPr txBox="1"/>
          <p:nvPr/>
        </p:nvSpPr>
        <p:spPr>
          <a:xfrm>
            <a:off x="7022592" y="4069080"/>
            <a:ext cx="1261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F8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stPValue</a:t>
            </a:r>
            <a:endParaRPr lang="en-US" sz="850" dirty="0"/>
          </a:p>
        </p:txBody>
      </p:sp>
      <p:sp>
        <p:nvSpPr>
          <p:cNvPr id="56" name="Text 54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ten columns are consumed as-is by every model: no scaling, no feature selection, matching the base paper.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ciphertext to a cipher prediction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371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41248" y="1508760"/>
            <a:ext cx="603504" cy="603504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194" y="1671706"/>
            <a:ext cx="277612" cy="2776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0292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Ciphertext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871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sample from one of five ciphers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1869948" y="2194560"/>
            <a:ext cx="256032" cy="182880"/>
          </a:xfrm>
          <a:prstGeom prst="rightArrow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171700" y="1371600"/>
            <a:ext cx="1371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55748" y="1508760"/>
            <a:ext cx="603504" cy="603504"/>
          </a:xfrm>
          <a:prstGeom prst="ellipse">
            <a:avLst/>
          </a:prstGeom>
          <a:solidFill>
            <a:srgbClr val="0F8C96"/>
          </a:solidFill>
          <a:ln w="12700">
            <a:solidFill>
              <a:srgbClr val="0F8C96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8694" y="1671706"/>
            <a:ext cx="277612" cy="27761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21742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NIST Tests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2263140" y="24871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randomness tests run on the sample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3584448" y="2194560"/>
            <a:ext cx="256032" cy="182880"/>
          </a:xfrm>
          <a:prstGeom prst="rightArrow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86200" y="1371600"/>
            <a:ext cx="1371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70248" y="1508760"/>
            <a:ext cx="603504" cy="603504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3194" y="1671706"/>
            <a:ext cx="277612" cy="27761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393192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Features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3977640" y="24871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p-value per test forms the fingerprint</a:t>
            </a:r>
            <a:endParaRPr lang="en-US" sz="950" dirty="0"/>
          </a:p>
        </p:txBody>
      </p:sp>
      <p:sp>
        <p:nvSpPr>
          <p:cNvPr id="23" name="Shape 18"/>
          <p:cNvSpPr/>
          <p:nvPr/>
        </p:nvSpPr>
        <p:spPr>
          <a:xfrm>
            <a:off x="5298948" y="2194560"/>
            <a:ext cx="256032" cy="182880"/>
          </a:xfrm>
          <a:prstGeom prst="rightArrow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600700" y="1371600"/>
            <a:ext cx="1371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5984748" y="1508760"/>
            <a:ext cx="603504" cy="603504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7694" y="1671706"/>
            <a:ext cx="277612" cy="277612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64642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ML Models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5692140" y="24871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· KNN · RF · HKNNRF · MLP · CNN</a:t>
            </a:r>
            <a:endParaRPr lang="en-US" sz="950" dirty="0"/>
          </a:p>
        </p:txBody>
      </p:sp>
      <p:sp>
        <p:nvSpPr>
          <p:cNvPr id="29" name="Shape 23"/>
          <p:cNvSpPr/>
          <p:nvPr/>
        </p:nvSpPr>
        <p:spPr>
          <a:xfrm>
            <a:off x="7013448" y="2194560"/>
            <a:ext cx="256032" cy="182880"/>
          </a:xfrm>
          <a:prstGeom prst="rightArrow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7315200" y="1371600"/>
            <a:ext cx="1371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7699248" y="1508760"/>
            <a:ext cx="603504" cy="603504"/>
          </a:xfrm>
          <a:prstGeom prst="ellipse">
            <a:avLst/>
          </a:prstGeom>
          <a:solidFill>
            <a:srgbClr val="D23B4E"/>
          </a:solidFill>
          <a:ln w="12700">
            <a:solidFill>
              <a:srgbClr val="D23B4E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2194" y="1671706"/>
            <a:ext cx="277612" cy="277612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360920" y="2194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Identification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7406640" y="2487168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cipher and class probabilities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640080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Stratified split</a:t>
            </a:r>
            <a:endParaRPr lang="en-US" sz="1100" dirty="0"/>
          </a:p>
        </p:txBody>
      </p:sp>
      <p:sp>
        <p:nvSpPr>
          <p:cNvPr id="37" name="Text 30"/>
          <p:cNvSpPr txBox="1"/>
          <p:nvPr/>
        </p:nvSpPr>
        <p:spPr>
          <a:xfrm>
            <a:off x="640080" y="38862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Seeded 80/20 train and test, identical for every model</a:t>
            </a:r>
            <a:endParaRPr lang="en-US" sz="950" dirty="0"/>
          </a:p>
        </p:txBody>
      </p:sp>
      <p:sp>
        <p:nvSpPr>
          <p:cNvPr id="38" name="Text 31"/>
          <p:cNvSpPr txBox="1"/>
          <p:nvPr/>
        </p:nvSpPr>
        <p:spPr>
          <a:xfrm>
            <a:off x="2651760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Train</a:t>
            </a:r>
            <a:endParaRPr lang="en-US" sz="1100" dirty="0"/>
          </a:p>
        </p:txBody>
      </p:sp>
      <p:sp>
        <p:nvSpPr>
          <p:cNvPr id="39" name="Text 32"/>
          <p:cNvSpPr txBox="1"/>
          <p:nvPr/>
        </p:nvSpPr>
        <p:spPr>
          <a:xfrm>
            <a:off x="2651760" y="38862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the training split only (deep nets carve validation from it)</a:t>
            </a:r>
            <a:endParaRPr lang="en-US" sz="950" dirty="0"/>
          </a:p>
        </p:txBody>
      </p:sp>
      <p:sp>
        <p:nvSpPr>
          <p:cNvPr id="40" name="Text 33"/>
          <p:cNvSpPr txBox="1"/>
          <p:nvPr/>
        </p:nvSpPr>
        <p:spPr>
          <a:xfrm>
            <a:off x="4663440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 Evaluate</a:t>
            </a:r>
            <a:endParaRPr lang="en-US" sz="1100" dirty="0"/>
          </a:p>
        </p:txBody>
      </p:sp>
      <p:sp>
        <p:nvSpPr>
          <p:cNvPr id="41" name="Text 34"/>
          <p:cNvSpPr txBox="1"/>
          <p:nvPr/>
        </p:nvSpPr>
        <p:spPr>
          <a:xfrm>
            <a:off x="4663440" y="38862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 and confusion matrix on held-out test</a:t>
            </a:r>
            <a:endParaRPr lang="en-US" sz="950" dirty="0"/>
          </a:p>
        </p:txBody>
      </p:sp>
      <p:sp>
        <p:nvSpPr>
          <p:cNvPr id="42" name="Text 35"/>
          <p:cNvSpPr txBox="1"/>
          <p:nvPr/>
        </p:nvSpPr>
        <p:spPr>
          <a:xfrm>
            <a:off x="6675120" y="3611880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 Record</a:t>
            </a:r>
            <a:endParaRPr lang="en-US" sz="1100" dirty="0"/>
          </a:p>
        </p:txBody>
      </p:sp>
      <p:sp>
        <p:nvSpPr>
          <p:cNvPr id="43" name="Text 36"/>
          <p:cNvSpPr txBox="1"/>
          <p:nvPr/>
        </p:nvSpPr>
        <p:spPr>
          <a:xfrm>
            <a:off x="6675120" y="388620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experiment into the results CSV / JSON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MODELS,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QUESTION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classifiers reproduce the base paper; two neural networks are our extension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44752"/>
            <a:ext cx="457200" cy="457200"/>
          </a:xfrm>
          <a:prstGeom prst="ellipse">
            <a:avLst/>
          </a:prstGeom>
          <a:solidFill>
            <a:srgbClr val="6B3FC4"/>
          </a:solidFill>
          <a:ln w="12700">
            <a:solidFill>
              <a:srgbClr val="6B3FC4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" y="1568196"/>
            <a:ext cx="210312" cy="210312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417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2057400" y="2487168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7F8FAE"/>
          </a:solidFill>
          <a:ln w="12700">
            <a:solidFill>
              <a:srgbClr val="7F8FA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057400" y="2487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PAPER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1188720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VECTOR MACHINE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Maximum-margin boundary between classes.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46120" y="128016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10712" y="1444752"/>
            <a:ext cx="457200" cy="457200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4156" y="1568196"/>
            <a:ext cx="210312" cy="21031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977640" y="1417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1700" dirty="0"/>
          </a:p>
        </p:txBody>
      </p:sp>
      <p:sp>
        <p:nvSpPr>
          <p:cNvPr id="18" name="Shape 14"/>
          <p:cNvSpPr/>
          <p:nvPr/>
        </p:nvSpPr>
        <p:spPr>
          <a:xfrm>
            <a:off x="4846320" y="2487168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7F8FAE"/>
          </a:solidFill>
          <a:ln w="12700">
            <a:solidFill>
              <a:srgbClr val="7F8FAE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846320" y="2487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PAPER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3977640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K-NEAREST NEIGHBOURS</a:t>
            </a:r>
            <a:endParaRPr lang="en-US" sz="750" dirty="0"/>
          </a:p>
        </p:txBody>
      </p:sp>
      <p:sp>
        <p:nvSpPr>
          <p:cNvPr id="21" name="Text 17"/>
          <p:cNvSpPr txBox="1"/>
          <p:nvPr/>
        </p:nvSpPr>
        <p:spPr>
          <a:xfrm>
            <a:off x="342900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 sample by its closest neighbours.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035040" y="128016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99632" y="1444752"/>
            <a:ext cx="457200" cy="45720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3076" y="1568196"/>
            <a:ext cx="210312" cy="210312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766560" y="14173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</a:t>
            </a:r>
            <a:endParaRPr lang="en-US" sz="1700" dirty="0"/>
          </a:p>
        </p:txBody>
      </p:sp>
      <p:sp>
        <p:nvSpPr>
          <p:cNvPr id="26" name="Shape 21"/>
          <p:cNvSpPr/>
          <p:nvPr/>
        </p:nvSpPr>
        <p:spPr>
          <a:xfrm>
            <a:off x="7635240" y="2487168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7F8FAE"/>
          </a:solidFill>
          <a:ln w="12700">
            <a:solidFill>
              <a:srgbClr val="7F8FAE"/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635240" y="24871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PAPER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6766560" y="17190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750" dirty="0"/>
          </a:p>
        </p:txBody>
      </p:sp>
      <p:sp>
        <p:nvSpPr>
          <p:cNvPr id="29" name="Text 24"/>
          <p:cNvSpPr txBox="1"/>
          <p:nvPr/>
        </p:nvSpPr>
        <p:spPr>
          <a:xfrm>
            <a:off x="6217920" y="20574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across many randomised decision trees.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457200" y="292608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621792" y="3090672"/>
            <a:ext cx="457200" cy="45720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5236" y="3214116"/>
            <a:ext cx="210312" cy="21031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1188720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HKNNRF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2057400" y="4133088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7F8FAE"/>
          </a:solidFill>
          <a:ln w="12700">
            <a:solidFill>
              <a:srgbClr val="7F8FAE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2057400" y="4133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PAPER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1188720" y="3364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HYBRID KNN + RF</a:t>
            </a:r>
            <a:endParaRPr lang="en-US" sz="750" dirty="0"/>
          </a:p>
        </p:txBody>
      </p:sp>
      <p:sp>
        <p:nvSpPr>
          <p:cNvPr id="37" name="Text 31"/>
          <p:cNvSpPr txBox="1"/>
          <p:nvPr/>
        </p:nvSpPr>
        <p:spPr>
          <a:xfrm>
            <a:off x="64008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method: forest leaves feed a KNN vote.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3246120" y="292608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E8710A"/>
            </a:solidFill>
            <a:prstDash val="dash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410712" y="3090672"/>
            <a:ext cx="457200" cy="457200"/>
          </a:xfrm>
          <a:prstGeom prst="ellipse">
            <a:avLst/>
          </a:prstGeom>
          <a:solidFill>
            <a:srgbClr val="D23B4E"/>
          </a:solidFill>
          <a:ln w="12700">
            <a:solidFill>
              <a:srgbClr val="D23B4E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4156" y="3214116"/>
            <a:ext cx="210312" cy="210312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3977640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</a:t>
            </a:r>
            <a:endParaRPr lang="en-US" sz="1700" dirty="0"/>
          </a:p>
        </p:txBody>
      </p:sp>
      <p:sp>
        <p:nvSpPr>
          <p:cNvPr id="42" name="Shape 35"/>
          <p:cNvSpPr/>
          <p:nvPr/>
        </p:nvSpPr>
        <p:spPr>
          <a:xfrm>
            <a:off x="4846320" y="4133088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4846320" y="4133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3977640" y="3364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MULTI-LAYER PERCEPTRON</a:t>
            </a:r>
            <a:endParaRPr lang="en-US" sz="750" dirty="0"/>
          </a:p>
        </p:txBody>
      </p:sp>
      <p:sp>
        <p:nvSpPr>
          <p:cNvPr id="45" name="Text 38"/>
          <p:cNvSpPr txBox="1"/>
          <p:nvPr/>
        </p:nvSpPr>
        <p:spPr>
          <a:xfrm>
            <a:off x="342900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feed-forward network on the ten features.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6035040" y="2926080"/>
            <a:ext cx="26517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5875">
            <a:solidFill>
              <a:srgbClr val="E8710A"/>
            </a:solidFill>
            <a:prstDash val="dash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6199632" y="3090672"/>
            <a:ext cx="457200" cy="457200"/>
          </a:xfrm>
          <a:prstGeom prst="ellipse">
            <a:avLst/>
          </a:prstGeom>
          <a:solidFill>
            <a:srgbClr val="B58900"/>
          </a:solidFill>
          <a:ln w="12700">
            <a:solidFill>
              <a:srgbClr val="B58900"/>
            </a:solidFill>
            <a:prstDash val="solid"/>
          </a:ln>
        </p:spPr>
      </p:sp>
      <p:pic>
        <p:nvPicPr>
          <p:cNvPr id="4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3076" y="3214116"/>
            <a:ext cx="210312" cy="210312"/>
          </a:xfrm>
          <a:prstGeom prst="rect">
            <a:avLst/>
          </a:prstGeom>
        </p:spPr>
      </p:pic>
      <p:sp>
        <p:nvSpPr>
          <p:cNvPr id="49" name="Text 41"/>
          <p:cNvSpPr txBox="1"/>
          <p:nvPr/>
        </p:nvSpPr>
        <p:spPr>
          <a:xfrm>
            <a:off x="6766560" y="3063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700" dirty="0"/>
          </a:p>
        </p:txBody>
      </p:sp>
      <p:sp>
        <p:nvSpPr>
          <p:cNvPr id="50" name="Shape 42"/>
          <p:cNvSpPr/>
          <p:nvPr/>
        </p:nvSpPr>
        <p:spPr>
          <a:xfrm>
            <a:off x="7635240" y="4133088"/>
            <a:ext cx="960120" cy="201168"/>
          </a:xfrm>
          <a:prstGeom prst="roundRect">
            <a:avLst>
              <a:gd name="adj" fmla="val 50000"/>
            </a:avLst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7635240" y="41330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EXTENSION</a:t>
            </a:r>
            <a:endParaRPr lang="en-US" sz="900" dirty="0"/>
          </a:p>
        </p:txBody>
      </p:sp>
      <p:sp>
        <p:nvSpPr>
          <p:cNvPr id="52" name="Text 44"/>
          <p:cNvSpPr txBox="1"/>
          <p:nvPr/>
        </p:nvSpPr>
        <p:spPr>
          <a:xfrm>
            <a:off x="6766560" y="336499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1-D CONVOLUTIONAL NET</a:t>
            </a:r>
            <a:endParaRPr lang="en-US" sz="750" dirty="0"/>
          </a:p>
        </p:txBody>
      </p:sp>
      <p:sp>
        <p:nvSpPr>
          <p:cNvPr id="53" name="Text 45"/>
          <p:cNvSpPr txBox="1"/>
          <p:nvPr/>
        </p:nvSpPr>
        <p:spPr>
          <a:xfrm>
            <a:off x="6217920" y="370332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Convolutions over the ordered feature vector.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</a:t>
            </a:r>
            <a:r>
              <a:rPr lang="en-US" sz="2800" b="1" dirty="0">
                <a:solidFill>
                  <a:srgbClr val="E87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HKNNRF</a:t>
            </a: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THE DEEP MODELS WORK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src/models and evaluated under one shared protocol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5120640" cy="3246120"/>
          </a:xfrm>
          <a:prstGeom prst="roundRect">
            <a:avLst>
              <a:gd name="adj" fmla="val 2535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HKNNRF  ·  the base paper's hybrid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7772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8288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features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426464" y="2103120"/>
            <a:ext cx="164592" cy="137160"/>
          </a:xfrm>
          <a:prstGeom prst="rightArrow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00200" y="1828800"/>
            <a:ext cx="7772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600200" y="18288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86584" y="2103120"/>
            <a:ext cx="164592" cy="137160"/>
          </a:xfrm>
          <a:prstGeom prst="rightArrow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60320" y="1828800"/>
            <a:ext cx="7772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18288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Leaf-index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346704" y="2103120"/>
            <a:ext cx="164592" cy="137160"/>
          </a:xfrm>
          <a:prstGeom prst="rightArrow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520440" y="1828800"/>
            <a:ext cx="7772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520440" y="18288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original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06824" y="2103120"/>
            <a:ext cx="164592" cy="137160"/>
          </a:xfrm>
          <a:prstGeom prst="rightArrow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1828800"/>
            <a:ext cx="777240" cy="6858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480560" y="1828800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vote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274320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forest learns which leaf each training sample lands in.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indices are one-hot encoded and concatenated with the original ten features.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k-nearest-neighbour classifier votes in that enriched space.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combine the forest's learned partitions with KNN's local decisions.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1280160"/>
            <a:ext cx="2926080" cy="3246120"/>
          </a:xfrm>
          <a:prstGeom prst="roundRect">
            <a:avLst>
              <a:gd name="adj" fmla="val 2813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58978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and 1-D CNN  ·  extension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897880" y="173736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models wrapped to behave like scikit-learn classifiers.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data is carved from the training split only, never the test set.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stopping; seeds set through keras.utils.set_random_seed.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labels mapped consistently so binary and five-class runs stay comparable.</a:t>
            </a:r>
            <a:endParaRPr lang="en-US" sz="10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 has no neural baseline, so MLP/CNN are reported on their own.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DESIGN: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 RUNS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model on every task and every ciphertext size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280160"/>
            <a:ext cx="1188720" cy="1188720"/>
          </a:xfrm>
          <a:prstGeom prst="roundRect">
            <a:avLst>
              <a:gd name="adj" fmla="val 6923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6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14630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2286000" y="1280160"/>
            <a:ext cx="1188720" cy="1188720"/>
          </a:xfrm>
          <a:prstGeom prst="roundRect">
            <a:avLst>
              <a:gd name="adj" fmla="val 6923"/>
            </a:avLst>
          </a:prstGeom>
          <a:solidFill>
            <a:srgbClr val="E8F6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28600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3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SIZES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4630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3977640" y="1280160"/>
            <a:ext cx="1188720" cy="1188720"/>
          </a:xfrm>
          <a:prstGeom prst="roundRect">
            <a:avLst>
              <a:gd name="adj" fmla="val 6923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977640" y="137160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7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3400" dirty="0"/>
          </a:p>
        </p:txBody>
      </p:sp>
      <p:sp>
        <p:nvSpPr>
          <p:cNvPr id="16" name="Text 14"/>
          <p:cNvSpPr txBox="1"/>
          <p:nvPr/>
        </p:nvSpPr>
        <p:spPr>
          <a:xfrm>
            <a:off x="3977640" y="2057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212080" y="1463040"/>
            <a:ext cx="411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5669280" y="1280160"/>
            <a:ext cx="1737360" cy="1188720"/>
          </a:xfrm>
          <a:prstGeom prst="roundRect">
            <a:avLst>
              <a:gd name="adj" fmla="val 6923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669280" y="137160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566928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743200"/>
            <a:ext cx="4023360" cy="1783080"/>
          </a:xfrm>
          <a:prstGeom prst="roundRect">
            <a:avLst>
              <a:gd name="adj" fmla="val 4615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40080" y="2834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tasks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1546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five-class task: all five ciphers at once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binary tasks: every pair of ciphers (AES vs 3DES, AES vs Blowfish, … CAST vs RC2)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dataset files feed these tasks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2743200"/>
            <a:ext cx="4023360" cy="1783080"/>
          </a:xfrm>
          <a:prstGeom prst="roundRect">
            <a:avLst>
              <a:gd name="adj" fmla="val 4615"/>
            </a:avLst>
          </a:prstGeom>
          <a:solidFill>
            <a:srgbClr val="E8F6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846320" y="2834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protocol everywhere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846320" y="315468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fixed seed and stratified 80/20 split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accuracy, precision, recall, F1 (weighted)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stored as a single verified CSV + JSON, read directly by the app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ACCURACY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over all ciphertext sizes (and all ten pairs for binary)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502920" y="132588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graphicFrame>
        <p:nvGraphicFramePr>
          <p:cNvPr id="9" name="Chart 1"/>
          <p:cNvGraphicFramePr/>
          <p:nvPr/>
        </p:nvGraphicFramePr>
        <p:xfrm>
          <a:off x="4709160" y="132588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numbers:  </a:t>
            </a: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models sit close to chance level. The features carry only a weak cipher signal on this data, which we report rather than hide.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FIVE-CLASS ACCURACY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CIPHERTEXT SIZE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on 100 held-out samples per cell; best in each column highlighted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23042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512KB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6B3F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SVM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F6FE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8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8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8A4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E8710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HKNNRF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8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D23B4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8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B589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CNN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38A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F3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B2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1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794760"/>
            <a:ext cx="4023360" cy="777240"/>
          </a:xfrm>
          <a:prstGeom prst="roundRect">
            <a:avLst>
              <a:gd name="adj" fmla="val 10588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21792" y="3794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 for five classes is 0.20. </a:t>
            </a: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 cell: HKNNRF at 256KB (0.25).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3794760"/>
            <a:ext cx="4023360" cy="777240"/>
          </a:xfrm>
          <a:prstGeom prst="roundRect">
            <a:avLst>
              <a:gd name="adj" fmla="val 10588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4828032" y="3794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test sets are noisy. </a:t>
            </a: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sample is 1 point of accuracy, so single cells vary a lot.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WITH THE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PAPER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Yuan et al. (2022), Tables 3 and 5, against our verified results (mean over five sizes)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graphicFrame>
        <p:nvGraphicFramePr>
          <p:cNvPr id="7" name="Chart 0"/>
          <p:cNvGraphicFramePr/>
          <p:nvPr/>
        </p:nvGraphicFramePr>
        <p:xfrm>
          <a:off x="502920" y="132588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1280160"/>
            <a:ext cx="4023360" cy="27432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graphicFrame>
        <p:nvGraphicFramePr>
          <p:cNvPr id="9" name="Chart 1"/>
          <p:cNvGraphicFramePr/>
          <p:nvPr/>
        </p:nvGraphicFramePr>
        <p:xfrm>
          <a:off x="4709160" y="1325880"/>
          <a:ext cx="393192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57200" y="4114800"/>
            <a:ext cx="8229600" cy="548640"/>
          </a:xfrm>
          <a:prstGeom prst="roundRect">
            <a:avLst>
              <a:gd name="adj" fmla="val 15000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71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reading:  </a:t>
            </a: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HKNNRF advantage (0.30 five-class, 0.70 binary) is not reproduced here. MLP and CNN have no paper counterpart.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330 verified experiments tell us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FDEC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D23B4E"/>
          </a:solidFill>
          <a:ln w="12700">
            <a:solidFill>
              <a:srgbClr val="D23B4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868" y="1598828"/>
            <a:ext cx="231343" cy="23134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32588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Near-chance everywhere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Five-class accuracy is 0.13 to 0.21 (chance 0.20); binary is 0.50 to 0.51 (chance 0.50). No model is reliably better than guessing.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rgbClr val="6B3FC4"/>
          </a:solidFill>
          <a:ln w="12700">
            <a:solidFill>
              <a:srgbClr val="6B3FC4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108" y="1598828"/>
            <a:ext cx="231343" cy="23134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532120" y="1463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nets do not win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0574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and CNN match the classical models but take about 5 to 6 s per run against 0.02 to 0.07 s for SVM, KNN and RF.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97180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3154680"/>
            <a:ext cx="502920" cy="50292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868" y="3290468"/>
            <a:ext cx="231343" cy="23134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2588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gap is open</a:t>
            </a:r>
            <a:endParaRPr lang="en-US" sz="1300" dirty="0"/>
          </a:p>
        </p:txBody>
      </p:sp>
      <p:sp>
        <p:nvSpPr>
          <p:cNvPr id="20" name="Text 15"/>
          <p:cNvSpPr txBox="1"/>
          <p:nvPr/>
        </p:nvSpPr>
        <p:spPr>
          <a:xfrm>
            <a:off x="64008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HKNNRF's reported edge over the other three is not seen with our splits: it is 0.16 five-class against RF at 0.20.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2971800"/>
            <a:ext cx="4023360" cy="1554480"/>
          </a:xfrm>
          <a:prstGeom prst="roundRect">
            <a:avLst>
              <a:gd name="adj" fmla="val 5294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46320" y="3154680"/>
            <a:ext cx="502920" cy="502920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2108" y="3290468"/>
            <a:ext cx="231343" cy="231343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532120" y="3154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Likely reasons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846320" y="374904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test sets (40 to 100 samples) make results noisy, and ten p-values may hold little cipher-specific signal. These are hypotheses to test next.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RIGOUR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numbers can be trusted, even when they are modest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94360"/>
          </a:xfrm>
          <a:prstGeom prst="roundRect">
            <a:avLst>
              <a:gd name="adj" fmla="val 13846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325880"/>
            <a:ext cx="411480" cy="411480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436980"/>
            <a:ext cx="189281" cy="18928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2344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Seeded and stratified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123444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random seed and stratified 80/20 split for every model, so runs are repeatable.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1901952"/>
            <a:ext cx="8229600" cy="594360"/>
          </a:xfrm>
          <a:prstGeom prst="roundRect">
            <a:avLst>
              <a:gd name="adj" fmla="val 13846"/>
            </a:avLst>
          </a:prstGeom>
          <a:solidFill>
            <a:srgbClr val="E8F6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94360" y="1993392"/>
            <a:ext cx="411480" cy="41148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460" y="2104492"/>
            <a:ext cx="189281" cy="18928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88720" y="190195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test leakage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1901952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and CNN take their validation set from training data only; the test set is touched once for the final prediction.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57200" y="2569464"/>
            <a:ext cx="8229600" cy="594360"/>
          </a:xfrm>
          <a:prstGeom prst="roundRect">
            <a:avLst>
              <a:gd name="adj" fmla="val 13846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94360" y="2660904"/>
            <a:ext cx="411480" cy="41148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2772004"/>
            <a:ext cx="189281" cy="18928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188720" y="256946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verified result set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3474720" y="2569464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330 rows live in a single CSV + JSON that the app reads directly. No database needed.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3236976"/>
            <a:ext cx="8229600" cy="594360"/>
          </a:xfrm>
          <a:prstGeom prst="roundRect">
            <a:avLst>
              <a:gd name="adj" fmla="val 13846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94360" y="3328416"/>
            <a:ext cx="411480" cy="411480"/>
          </a:xfrm>
          <a:prstGeom prst="ellipse">
            <a:avLst/>
          </a:prstGeom>
          <a:solidFill>
            <a:srgbClr val="6B3FC4"/>
          </a:solidFill>
          <a:ln w="12700">
            <a:solidFill>
              <a:srgbClr val="6B3FC4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460" y="3439516"/>
            <a:ext cx="189281" cy="189281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188720" y="323697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3474720" y="3236976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17-test suite covers data loading, models, metrics and the pipeline.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457200" y="3904488"/>
            <a:ext cx="8229600" cy="594360"/>
          </a:xfrm>
          <a:prstGeom prst="roundRect">
            <a:avLst>
              <a:gd name="adj" fmla="val 13846"/>
            </a:avLst>
          </a:prstGeom>
          <a:solidFill>
            <a:srgbClr val="E6F6F7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94360" y="3995928"/>
            <a:ext cx="411480" cy="411480"/>
          </a:xfrm>
          <a:prstGeom prst="ellipse">
            <a:avLst/>
          </a:prstGeom>
          <a:solidFill>
            <a:srgbClr val="0F8C96"/>
          </a:solidFill>
          <a:ln w="12700">
            <a:solidFill>
              <a:srgbClr val="0F8C96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460" y="4107028"/>
            <a:ext cx="189281" cy="18928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8720" y="390448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commands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3474720" y="3904488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install, run the test suite, run the experiment matrix, launch the app: four commands.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repository fits together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554480" cy="1097280"/>
          </a:xfrm>
          <a:prstGeom prst="roundRect">
            <a:avLst>
              <a:gd name="adj" fmla="val 7500"/>
            </a:avLst>
          </a:prstGeom>
          <a:solidFill>
            <a:srgbClr val="E6F6F7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48640" y="1444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F8C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data/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373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NIST feature CSVs (5 five-class, 50 binary)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57400" y="1828800"/>
            <a:ext cx="256032" cy="182880"/>
          </a:xfrm>
          <a:prstGeom prst="rightArrow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77440" y="1371600"/>
            <a:ext cx="1645920" cy="1097280"/>
          </a:xfrm>
          <a:prstGeom prst="roundRect">
            <a:avLst>
              <a:gd name="adj" fmla="val 7500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468880" y="1444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data_loader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1737360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Stratified, seeded train/test split; feature names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69080" y="1828800"/>
            <a:ext cx="256032" cy="182880"/>
          </a:xfrm>
          <a:prstGeom prst="rightArrow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1188720"/>
            <a:ext cx="1828800" cy="548640"/>
          </a:xfrm>
          <a:prstGeom prst="roundRect">
            <a:avLst>
              <a:gd name="adj" fmla="val 15000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480560" y="126187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6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SVM · KNN · RF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1554480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baselines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1810512"/>
            <a:ext cx="1828800" cy="548640"/>
          </a:xfrm>
          <a:prstGeom prst="roundRect">
            <a:avLst>
              <a:gd name="adj" fmla="val 15000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4480560" y="18836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7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HKNNRF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480560" y="217627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hybrid estimator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389120" y="2432304"/>
            <a:ext cx="1828800" cy="548640"/>
          </a:xfrm>
          <a:prstGeom prst="roundRect">
            <a:avLst>
              <a:gd name="adj" fmla="val 15000"/>
            </a:avLst>
          </a:prstGeom>
          <a:solidFill>
            <a:srgbClr val="FDEC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480560" y="250545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23B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MLP · 1-D CNN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279806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wrappers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1874520"/>
            <a:ext cx="256032" cy="182880"/>
          </a:xfrm>
          <a:prstGeom prst="rightArrow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371600"/>
            <a:ext cx="2103120" cy="1097280"/>
          </a:xfrm>
          <a:prstGeom prst="roundRect">
            <a:avLst>
              <a:gd name="adj" fmla="val 7500"/>
            </a:avLst>
          </a:prstGeom>
          <a:solidFill>
            <a:srgbClr val="E8F6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675120" y="144475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3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 + runner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6675120" y="1737360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confusion matrix; experiment matrix runner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98080" y="2514600"/>
            <a:ext cx="256032" cy="411480"/>
          </a:xfrm>
          <a:prstGeom prst="downArrow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063240"/>
            <a:ext cx="8229600" cy="1600200"/>
          </a:xfrm>
          <a:prstGeom prst="roundRect">
            <a:avLst>
              <a:gd name="adj" fmla="val 5143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64008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application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309360" y="3127248"/>
            <a:ext cx="2194560" cy="41148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309360" y="312724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3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experiments/results  ·  330 rows, CSV + JSON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40080" y="36576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40080" y="36576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517904" y="36576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0F8C96"/>
          </a:solidFill>
          <a:ln w="12700">
            <a:solidFill>
              <a:srgbClr val="0F8C9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517904" y="36576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395728" y="36576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D23B4E"/>
          </a:solidFill>
          <a:ln w="12700">
            <a:solidFill>
              <a:srgbClr val="D23B4E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95728" y="36576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73552" y="36576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6B3FC4"/>
          </a:solidFill>
          <a:ln w="12700">
            <a:solidFill>
              <a:srgbClr val="6B3FC4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73552" y="36576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151376" y="36576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151376" y="36576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029200" y="36576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029200" y="36576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907024" y="36576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907024" y="36576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Matrix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784848" y="36576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0F8C96"/>
          </a:solidFill>
          <a:ln w="12700">
            <a:solidFill>
              <a:srgbClr val="0F8C96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84848" y="36576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662672" y="3657600"/>
            <a:ext cx="786384" cy="256032"/>
          </a:xfrm>
          <a:prstGeom prst="roundRect">
            <a:avLst>
              <a:gd name="adj" fmla="val 50000"/>
            </a:avLst>
          </a:prstGeom>
          <a:solidFill>
            <a:srgbClr val="7F8FAE"/>
          </a:solidFill>
          <a:ln w="12700">
            <a:solidFill>
              <a:srgbClr val="7F8FAE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662672" y="365760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900" dirty="0"/>
          </a:p>
        </p:txBody>
      </p:sp>
      <p:sp>
        <p:nvSpPr>
          <p:cNvPr id="50" name="Text 48"/>
          <p:cNvSpPr txBox="1"/>
          <p:nvPr/>
        </p:nvSpPr>
        <p:spPr>
          <a:xfrm>
            <a:off x="640080" y="4023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app/streamlit_app.py reads the results file and the datasets directly, and trains any of the six models live from the Identify page. Styling in app/style.css, motion in app/effects.js. No database or network service is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APPLICATION: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story from the problem to the evidence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394960" cy="3217545"/>
          </a:xfrm>
          <a:prstGeom prst="roundRect">
            <a:avLst>
              <a:gd name="adj" fmla="val 1705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71016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271016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2" name="Image 0" descr="C:\Users\HARSH\AppData\Local\Temp\claude\c--Users-HARSH-Desktop-SEM--WORKS-SEM-7-All-Work-Minor-Project-Project\50c01da4-15b4-46c6-90a3-605a71a1a498\scratchpad\ppt\img2\home_he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5358384" cy="301637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80760" y="1325880"/>
            <a:ext cx="274320" cy="274320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1307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navigation with nine pages; the badge shows the verified result count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2103120"/>
            <a:ext cx="274320" cy="27432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80760" y="2103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20848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explains the task; terminal card mirrors the real pipeline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2880360"/>
            <a:ext cx="274320" cy="27432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80760" y="2880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286207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counters read from the results file: 5 ciphers, 6 models, 5 sizes, 330 experiments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80760" y="3657600"/>
            <a:ext cx="274320" cy="274320"/>
          </a:xfrm>
          <a:prstGeom prst="ellipse">
            <a:avLst/>
          </a:prstGeom>
          <a:solidFill>
            <a:srgbClr val="6B3FC4"/>
          </a:solidFill>
          <a:ln w="12700">
            <a:solidFill>
              <a:srgbClr val="6B3F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8076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36393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scroll sections lead to the live demo and paper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FINGERPRINT AND MODELS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explained visually inside the app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214677"/>
          </a:xfrm>
          <a:prstGeom prst="roundRect">
            <a:avLst>
              <a:gd name="adj" fmla="val 2477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2" name="Image 0" descr="C:\Users\HARSH\AppData\Local\Temp\claude\c--Users-HARSH-Desktop-SEM--WORKS-SEM-7-All-Work-Minor-Project-Project\50c01da4-15b4-46c6-90a3-605a71a1a498\scratchpad\ppt\img2\home_fingerpri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3986784" cy="201350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63440" y="1234440"/>
            <a:ext cx="4023360" cy="2214677"/>
          </a:xfrm>
          <a:prstGeom prst="roundRect">
            <a:avLst>
              <a:gd name="adj" fmla="val 2477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4573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3717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2861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6636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9" name="Image 1" descr="C:\Users\HARSH\AppData\Local\Temp\claude\c--Users-HARSH-Desktop-SEM--WORKS-SEM-7-All-Work-Minor-Project-Project\50c01da4-15b4-46c6-90a3-605a71a1a498\scratchpad\ppt\img2\home_model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17320"/>
            <a:ext cx="3986784" cy="201350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and the ten NIST features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Ciphertext, fingerprint, features, models, identification, followed by the ten features and what each measures.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66344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ecosystem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66344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model cards; MLP and CNN carry a dashed border and an Extension badge to separate them from the base paper.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HOME: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EXPERIMENTS AND EVIDENCE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330 runs at a glance, and how they compare with the paper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214677"/>
          </a:xfrm>
          <a:prstGeom prst="roundRect">
            <a:avLst>
              <a:gd name="adj" fmla="val 2477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2" name="Image 0" descr="C:\Users\HARSH\AppData\Local\Temp\claude\c--Users-HARSH-Desktop-SEM--WORKS-SEM-7-All-Work-Minor-Project-Project\50c01da4-15b4-46c6-90a3-605a71a1a498\scratchpad\ppt\img2\home_experi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3986784" cy="201350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63440" y="1234440"/>
            <a:ext cx="4023360" cy="2214677"/>
          </a:xfrm>
          <a:prstGeom prst="roundRect">
            <a:avLst>
              <a:gd name="adj" fmla="val 2477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4573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3717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2861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6636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9" name="Image 1" descr="C:\Users\HARSH\AppData\Local\Temp\claude\c--Users-HARSH-Desktop-SEM--WORKS-SEM-7-All-Work-Minor-Project-Project\50c01da4-15b4-46c6-90a3-605a71a1a498\scratchpad\ppt\img2\home_pap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17320"/>
            <a:ext cx="3986784" cy="201350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330-run grid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square per experiment, coloured by model; a counter animates up to the verified total.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66344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against the paper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66344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HKNNRF paper-versus-ours bars are computed live from the base-paper tables and the results file.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EXPLORER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55 CSV datasets behind every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394960" cy="3217545"/>
          </a:xfrm>
          <a:prstGeom prst="roundRect">
            <a:avLst>
              <a:gd name="adj" fmla="val 1705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71016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271016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2" name="Image 0" descr="C:\Users\HARSH\AppData\Local\Temp\claude\c--Users-HARSH-Desktop-SEM--WORKS-SEM-7-All-Work-Minor-Project-Project\50c01da4-15b4-46c6-90a3-605a71a1a498\scratchpad\ppt\img2\da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5358384" cy="301637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80760" y="1325880"/>
            <a:ext cx="274320" cy="274320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13075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task (five-class or binary), ciphertext size and, for binary, the cipher pair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2194560"/>
            <a:ext cx="274320" cy="27432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8076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217627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tab shows sample counts and class balance of the train/test split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3063240"/>
            <a:ext cx="274320" cy="27432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807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304495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preview and statistics tabs expose the ten NIST columns before any model is trained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 IDENTIFICATION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any of the six models in the browser and inspect what it concludes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446020"/>
          </a:xfrm>
          <a:prstGeom prst="roundRect">
            <a:avLst>
              <a:gd name="adj" fmla="val 2243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2" name="Image 0" descr="C:\Users\HARSH\AppData\Local\Temp\claude\c--Users-HARSH-Desktop-SEM--WORKS-SEM-7-All-Work-Minor-Project-Project\50c01da4-15b4-46c6-90a3-605a71a1a498\scratchpad\ppt\img2\identify_confi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3986784" cy="224485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63440" y="1234440"/>
            <a:ext cx="4023360" cy="2214677"/>
          </a:xfrm>
          <a:prstGeom prst="roundRect">
            <a:avLst>
              <a:gd name="adj" fmla="val 2477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4573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3717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2861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6636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9" name="Image 1" descr="C:\Users\HARSH\AppData\Local\Temp\claude\c--Users-HARSH-Desktop-SEM--WORKS-SEM-7-All-Work-Minor-Project-Project\50c01da4-15b4-46c6-90a3-605a71a1a498\scratchpad\ppt\img2\identify_res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17320"/>
            <a:ext cx="3986784" cy="2013509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57200" y="3840480"/>
            <a:ext cx="274320" cy="274320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720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22960" y="3822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task, size, model and pair; MLP and CNN are included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663440" y="3657600"/>
            <a:ext cx="274320" cy="27432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663440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029200" y="363931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shows the predicted cipher, true label and the model's confidence for the chosen test sample, then accuracy, precision, recall and F1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IDENTIFY: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CONFUSION MATRIX AND ANALYSIS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model is right, where it confuses ciphers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394960" cy="2907335"/>
          </a:xfrm>
          <a:prstGeom prst="roundRect">
            <a:avLst>
              <a:gd name="adj" fmla="val 1887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71016"/>
            <a:ext cx="2011680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271016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2" name="Image 0" descr="C:\Users\HARSH\AppData\Local\Temp\claude\c--Users-HARSH-Desktop-SEM--WORKS-SEM-7-All-Work-Minor-Project-Project\50c01da4-15b4-46c6-90a3-605a71a1a498\scratchpad\ppt\img2\identify_resul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5358384" cy="2706167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080760" y="1371600"/>
            <a:ext cx="274320" cy="274320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446520" y="135331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of true versus predicted cipher across the held-out test set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80760" y="2240280"/>
            <a:ext cx="274320" cy="27432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8076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446520" y="22219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Class-probability tab shows the model's belief per cipher for one sample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080760" y="3108960"/>
            <a:ext cx="274320" cy="27432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8076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446520" y="309067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tab lists test rows with correct/incorrect highlighted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080760" y="3840480"/>
            <a:ext cx="274320" cy="274320"/>
          </a:xfrm>
          <a:prstGeom prst="ellipse">
            <a:avLst/>
          </a:prstGeom>
          <a:solidFill>
            <a:srgbClr val="6B3FC4"/>
          </a:solidFill>
          <a:ln w="12700">
            <a:solidFill>
              <a:srgbClr val="6B3FC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08076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446520" y="382219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Cached training: revisiting a configuration does not retrain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models on the same task and size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446020"/>
          </a:xfrm>
          <a:prstGeom prst="roundRect">
            <a:avLst>
              <a:gd name="adj" fmla="val 2243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2" name="Image 0" descr="C:\Users\HARSH\AppData\Local\Temp\claude\c--Users-HARSH-Desktop-SEM--WORKS-SEM-7-All-Work-Minor-Project-Project\50c01da4-15b4-46c6-90a3-605a71a1a498\scratchpad\ppt\img2\mode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3986784" cy="224485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63440" y="1234440"/>
            <a:ext cx="4023360" cy="2214677"/>
          </a:xfrm>
          <a:prstGeom prst="roundRect">
            <a:avLst>
              <a:gd name="adj" fmla="val 2477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4573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3717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2861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6636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9" name="Image 1" descr="C:\Users\HARSH\AppData\Local\Temp\claude\c--Users-HARSH-Desktop-SEM--WORKS-SEM-7-All-Work-Minor-Project-Project\50c01da4-15b4-46c6-90a3-605a71a1a498\scratchpad\ppt\img2\model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17320"/>
            <a:ext cx="3986784" cy="201350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tables and heatmap-styled metrics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task and size; the mean accuracy, precision, recall, F1 and training time for every model appear side by side.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66344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per metric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66344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all-four-metrics and training-time views make the cost of the neural networks obvious.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PAGE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so an examiner can check every number against the source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446020"/>
          </a:xfrm>
          <a:prstGeom prst="roundRect">
            <a:avLst>
              <a:gd name="adj" fmla="val 2243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2" name="Image 0" descr="C:\Users\HARSH\AppData\Local\Temp\claude\c--Users-HARSH-Desktop-SEM--WORKS-SEM-7-All-Work-Minor-Project-Project\50c01da4-15b4-46c6-90a3-605a71a1a498\scratchpad\ppt\img2\pap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3986784" cy="224485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63440" y="1234440"/>
            <a:ext cx="4023360" cy="2214677"/>
          </a:xfrm>
          <a:prstGeom prst="roundRect">
            <a:avLst>
              <a:gd name="adj" fmla="val 2477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4573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3717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2861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6636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9" name="Image 1" descr="C:\Users\HARSH\AppData\Local\Temp\claude\c--Users-HARSH-Desktop-SEM--WORKS-SEM-7-All-Work-Minor-Project-Project\50c01da4-15b4-46c6-90a3-605a71a1a498\scratchpad\ppt\img2\paper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17320"/>
            <a:ext cx="3986784" cy="2013509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57200" y="3840480"/>
            <a:ext cx="274320" cy="274320"/>
          </a:xfrm>
          <a:prstGeom prst="ellipse">
            <a:avLst/>
          </a:prstGeom>
          <a:solidFill>
            <a:srgbClr val="1F6FE0"/>
          </a:solidFill>
          <a:ln w="12700">
            <a:solidFill>
              <a:srgbClr val="1F6FE0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5720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18"/>
          <p:cNvSpPr txBox="1"/>
          <p:nvPr/>
        </p:nvSpPr>
        <p:spPr>
          <a:xfrm>
            <a:off x="822960" y="3822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numbers are transcribed from Tables 3, 4 and 5; the citation and DOI are shown on the page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663440" y="3840480"/>
            <a:ext cx="274320" cy="274320"/>
          </a:xfrm>
          <a:prstGeom prst="ellipse">
            <a:avLst/>
          </a:prstGeom>
          <a:solidFill>
            <a:srgbClr val="E8710A"/>
          </a:solidFill>
          <a:ln w="12700">
            <a:solidFill>
              <a:srgbClr val="E8710A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663440" y="3840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1"/>
          <p:cNvSpPr txBox="1"/>
          <p:nvPr/>
        </p:nvSpPr>
        <p:spPr>
          <a:xfrm>
            <a:off x="5029200" y="3822192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tabs: five-class, AES versus 3DES, and HKNNRF across all ten pairs; MLP and CNN shown as extensions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EXPERIMENT MATRIX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Filter, inspect and download every verified run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214677"/>
          </a:xfrm>
          <a:prstGeom prst="roundRect">
            <a:avLst>
              <a:gd name="adj" fmla="val 2477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2" name="Image 0" descr="C:\Users\HARSH\AppData\Local\Temp\claude\c--Users-HARSH-Desktop-SEM--WORKS-SEM-7-All-Work-Minor-Project-Project\50c01da4-15b4-46c6-90a3-605a71a1a498\scratchpad\ppt\img2\result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3986784" cy="2013509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63440" y="1234440"/>
            <a:ext cx="4023360" cy="2214677"/>
          </a:xfrm>
          <a:prstGeom prst="roundRect">
            <a:avLst>
              <a:gd name="adj" fmla="val 2477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4573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3717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2861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6636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9" name="Image 1" descr="C:\Users\HARSH\AppData\Local\Temp\claude\c--Users-HARSH-Desktop-SEM--WORKS-SEM-7-All-Work-Minor-Project-Project\50c01da4-15b4-46c6-90a3-605a71a1a498\scratchpad\ppt\img2\matri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17320"/>
            <a:ext cx="3986784" cy="201350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model, task and size; view distributions and the full table, and download it as CSV.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66344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 matrix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66344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versus present runs (330 of 330), a mean-accuracy heatmap per model and size, and a data-quality check.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REPRODUCIBILITY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inside the app itself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446020"/>
          </a:xfrm>
          <a:prstGeom prst="roundRect">
            <a:avLst>
              <a:gd name="adj" fmla="val 2243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949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2" name="Image 0" descr="C:\Users\HARSH\AppData\Local\Temp\claude\c--Users-HARSH-Desktop-SEM--WORKS-SEM-7-All-Work-Minor-Project-Project\50c01da4-15b4-46c6-90a3-605a71a1a498\scratchpad\ppt\img2\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417320"/>
            <a:ext cx="3986784" cy="224485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63440" y="1234440"/>
            <a:ext cx="4023360" cy="2446020"/>
          </a:xfrm>
          <a:prstGeom prst="roundRect">
            <a:avLst>
              <a:gd name="adj" fmla="val 2243"/>
            </a:avLst>
          </a:prstGeom>
          <a:solidFill>
            <a:srgbClr val="1E2126"/>
          </a:solidFill>
          <a:ln w="9525">
            <a:solidFill>
              <a:srgbClr val="C8D3E6"/>
            </a:solidFill>
            <a:prstDash val="solid"/>
          </a:ln>
          <a:effectLst>
            <a:outerShdw blurRad="127000" dist="25400" dir="5400000" algn="bl" rotWithShape="0">
              <a:srgbClr val="1B2B4B">
                <a:alpha val="2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45736" y="1293876"/>
            <a:ext cx="59436" cy="59436"/>
          </a:xfrm>
          <a:prstGeom prst="ellipse">
            <a:avLst/>
          </a:prstGeom>
          <a:solidFill>
            <a:srgbClr val="F0625A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37176" y="1293876"/>
            <a:ext cx="59436" cy="59436"/>
          </a:xfrm>
          <a:prstGeom prst="ellipse">
            <a:avLst/>
          </a:prstGeom>
          <a:solidFill>
            <a:srgbClr val="F5BE4F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928616" y="1293876"/>
            <a:ext cx="59436" cy="59436"/>
          </a:xfrm>
          <a:prstGeom prst="ellipse">
            <a:avLst/>
          </a:prstGeom>
          <a:solidFill>
            <a:srgbClr val="5BC85B"/>
          </a:solidFill>
          <a:ln w="12700">
            <a:solidFill>
              <a:srgbClr val="1E212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120640" y="1271016"/>
            <a:ext cx="1689811" cy="109728"/>
          </a:xfrm>
          <a:prstGeom prst="roundRect">
            <a:avLst>
              <a:gd name="adj" fmla="val 50000"/>
            </a:avLst>
          </a:prstGeom>
          <a:solidFill>
            <a:srgbClr val="3A3F47"/>
          </a:solidFill>
          <a:ln w="12700">
            <a:solidFill>
              <a:srgbClr val="3A3F4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66360" y="1271016"/>
            <a:ext cx="1609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" dirty="0">
                <a:solidFill>
                  <a:srgbClr val="C9CE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localhost:8501</a:t>
            </a:r>
            <a:endParaRPr lang="en-US" sz="600" dirty="0"/>
          </a:p>
        </p:txBody>
      </p:sp>
      <p:pic>
        <p:nvPicPr>
          <p:cNvPr id="19" name="Image 1" descr="C:\Users\HARSH\AppData\Local\Temp\claude\c--Users-HARSH-Desktop-SEM--WORKS-SEM-7-All-Work-Minor-Project-Project\50c01da4-15b4-46c6-90a3-605a71a1a498\scratchpad\ppt\img2\ab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728" y="1417320"/>
            <a:ext cx="3986784" cy="2244852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Features, models, evaluation protocol and how results are compared with the paper.</a:t>
            </a:r>
            <a:endParaRPr lang="en-US" sz="1050" dirty="0"/>
          </a:p>
        </p:txBody>
      </p:sp>
      <p:sp>
        <p:nvSpPr>
          <p:cNvPr id="22" name="Text 18"/>
          <p:cNvSpPr txBox="1"/>
          <p:nvPr/>
        </p:nvSpPr>
        <p:spPr>
          <a:xfrm>
            <a:off x="4663440" y="3794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4663440" y="4069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layout, run commands, reproducibility notes and known limitations.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</a:t>
            </a:r>
            <a:r>
              <a:rPr lang="en-US" sz="2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FUTURE WORK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 is missing, and what we would do next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023360" cy="3246120"/>
          </a:xfrm>
          <a:prstGeom prst="roundRect">
            <a:avLst>
              <a:gd name="adj" fmla="val 2535"/>
            </a:avLst>
          </a:prstGeom>
          <a:solidFill>
            <a:srgbClr val="FDEC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417320"/>
            <a:ext cx="411480" cy="411480"/>
          </a:xfrm>
          <a:prstGeom prst="ellipse">
            <a:avLst/>
          </a:prstGeom>
          <a:solidFill>
            <a:srgbClr val="D23B4E"/>
          </a:solidFill>
          <a:ln w="12700">
            <a:solidFill>
              <a:srgbClr val="D23B4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1528420"/>
            <a:ext cx="189281" cy="18928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limitations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116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near chance, so no model can yet identify a cipher reliably.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sets are small: 100 samples five-class, 40 samples binary.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seed per experiment; no confidence intervals yet.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ten summary features; the raw ciphertext bytes are not used.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3246120"/>
          </a:xfrm>
          <a:prstGeom prst="roundRect">
            <a:avLst>
              <a:gd name="adj" fmla="val 2535"/>
            </a:avLst>
          </a:prstGeom>
          <a:solidFill>
            <a:srgbClr val="E8F6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417320"/>
            <a:ext cx="411480" cy="411480"/>
          </a:xfrm>
          <a:prstGeom prst="ellipse">
            <a:avLst/>
          </a:prstGeom>
          <a:solidFill>
            <a:srgbClr val="138A4B"/>
          </a:solidFill>
          <a:ln w="12700">
            <a:solidFill>
              <a:srgbClr val="138A4B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7420" y="1528420"/>
            <a:ext cx="189281" cy="18928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394960" y="14173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2011680"/>
            <a:ext cx="3657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over many seeds and report mean ± spread.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larger datasets per cipher and size.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richer features, or learn directly from ciphertext bytes.</a:t>
            </a:r>
            <a:endParaRPr lang="en-US" sz="11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which of the ten tests carry any signal at all.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0" y="482803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b="1" kern="0" spc="3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5B6B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THE CIPHER. FROM THE CIPHERTEXT ALONE.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78638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CipherBench delivers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993392" cy="1737360"/>
          </a:xfrm>
          <a:prstGeom prst="roundRect">
            <a:avLst>
              <a:gd name="adj" fmla="val 4737"/>
            </a:avLst>
          </a:prstGeom>
          <a:solidFill>
            <a:srgbClr val="EAF2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330</a:t>
            </a:r>
            <a:endParaRPr lang="en-US" sz="38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experiments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models × 5 sizes × 11 tasks, one clean result set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42032" y="1280160"/>
            <a:ext cx="1993392" cy="1737360"/>
          </a:xfrm>
          <a:prstGeom prst="roundRect">
            <a:avLst>
              <a:gd name="adj" fmla="val 4737"/>
            </a:avLst>
          </a:prstGeom>
          <a:solidFill>
            <a:srgbClr val="F1ECFB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2679192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6B3F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800" dirty="0"/>
          </a:p>
        </p:txBody>
      </p:sp>
      <p:sp>
        <p:nvSpPr>
          <p:cNvPr id="12" name="Text 10"/>
          <p:cNvSpPr txBox="1"/>
          <p:nvPr/>
        </p:nvSpPr>
        <p:spPr>
          <a:xfrm>
            <a:off x="2679192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models, one protocol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2679192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from the base paper plus MLP and CNN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26864" y="1280160"/>
            <a:ext cx="1993392" cy="1737360"/>
          </a:xfrm>
          <a:prstGeom prst="roundRect">
            <a:avLst>
              <a:gd name="adj" fmla="val 4737"/>
            </a:avLst>
          </a:prstGeom>
          <a:solidFill>
            <a:srgbClr val="E8F6EE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4764024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8A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800" dirty="0"/>
          </a:p>
        </p:txBody>
      </p:sp>
      <p:sp>
        <p:nvSpPr>
          <p:cNvPr id="16" name="Text 14"/>
          <p:cNvSpPr txBox="1"/>
          <p:nvPr/>
        </p:nvSpPr>
        <p:spPr>
          <a:xfrm>
            <a:off x="4764024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pages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764024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explore, run live, compare with the paper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711696" y="1280160"/>
            <a:ext cx="1993392" cy="1737360"/>
          </a:xfrm>
          <a:prstGeom prst="roundRect">
            <a:avLst>
              <a:gd name="adj" fmla="val 4737"/>
            </a:avLst>
          </a:prstGeom>
          <a:solidFill>
            <a:srgbClr val="FFF3E6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848856" y="1371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871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6848856" y="205740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6848856" y="23774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passing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246120"/>
            <a:ext cx="8229600" cy="1280160"/>
          </a:xfrm>
          <a:prstGeom prst="roundRect">
            <a:avLst>
              <a:gd name="adj" fmla="val 6429"/>
            </a:avLst>
          </a:prstGeom>
          <a:solidFill>
            <a:srgbClr val="FFFFFF"/>
          </a:solidFill>
          <a:ln w="9525">
            <a:solidFill>
              <a:srgbClr val="D5E1F5"/>
            </a:solidFill>
            <a:prstDash val="solid"/>
          </a:ln>
          <a:effectLst>
            <a:outerShdw blurRad="76200" dist="12700" dir="5400000" algn="bl" rotWithShape="0">
              <a:srgbClr val="1B2B4B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85800" y="32918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6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line.  </a:t>
            </a:r>
            <a:r>
              <a:rPr lang="en-US" sz="12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rebuilt the base paper's benchmark, extended it with two neural networks, verified every result and packaged it in an app anyone can run. The honest outcome is that ten NIST p-values give only a weak cipher signal on this data. That makes CipherBench a solid, reproducible baseline for stronger features and larger datasets.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9FF"/>
          </a:solidFill>
          <a:ln w="12700">
            <a:solidFill>
              <a:srgbClr val="F5F9F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F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CIPHERBENCH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0B2A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live demonstration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B2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Sanyam Kumar (02996303123)   ·   Aayush Ahuja (35496303123)   ·   Harsh Ramrakhiani (35296303123)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5B6B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Bharti Sharma   ·   Maharaja Surajmal Institute of Technology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2840</Words>
  <Application>Microsoft Office PowerPoint</Application>
  <PresentationFormat>On-screen Show (16:9)</PresentationFormat>
  <Paragraphs>520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CipherBench - Block Cipher Identification</dc:title>
  <dc:subject>PptxGenJS Presentation</dc:subject>
  <dc:creator>Sanyam Kumar, Aayush Ahuja, Harsh Ramrakhiani</dc:creator>
  <cp:lastModifiedBy>HARSH RAMRAKHIANI</cp:lastModifiedBy>
  <cp:revision>1</cp:revision>
  <dcterms:created xsi:type="dcterms:W3CDTF">2026-09-19T08:54:43Z</dcterms:created>
  <dcterms:modified xsi:type="dcterms:W3CDTF">2026-09-19T09:00:01Z</dcterms:modified>
</cp:coreProperties>
</file>